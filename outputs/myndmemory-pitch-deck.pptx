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a4e0db7694f1a" /><Relationship Type="http://schemas.openxmlformats.org/officeDocument/2006/relationships/extended-properties" Target="/docProps/app.xml" Id="R5faec17fdef04436" /><Relationship Type="http://schemas.openxmlformats.org/officeDocument/2006/relationships/officeDocument" Target="/ppt/presentation.xml" Id="Rb1b279ea22cf4e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e705a82324ddc"/>
  </p:sldMasterIdLst>
  <p:notesMasterIdLst>
    <p:notesMasterId xmlns:r="http://schemas.openxmlformats.org/officeDocument/2006/relationships" r:id="Rc49bf1b096ac4d0d"/>
  </p:notesMasterIdLst>
  <p:sldIdLst>
    <p:sldId xmlns:r="http://schemas.openxmlformats.org/officeDocument/2006/relationships" id="256" r:id="Rc499d37c33104759"/>
    <p:sldId xmlns:r="http://schemas.openxmlformats.org/officeDocument/2006/relationships" id="257" r:id="Rf227278729d94a0e"/>
    <p:sldId xmlns:r="http://schemas.openxmlformats.org/officeDocument/2006/relationships" id="258" r:id="Rf3225e6cf9604208"/>
    <p:sldId xmlns:r="http://schemas.openxmlformats.org/officeDocument/2006/relationships" id="259" r:id="R48a0185a00084879"/>
    <p:sldId xmlns:r="http://schemas.openxmlformats.org/officeDocument/2006/relationships" id="260" r:id="R2bea9b75fe6a49d3"/>
    <p:sldId xmlns:r="http://schemas.openxmlformats.org/officeDocument/2006/relationships" id="261" r:id="Rfd98efcbd76b4545"/>
    <p:sldId xmlns:r="http://schemas.openxmlformats.org/officeDocument/2006/relationships" id="262" r:id="R7977db0a6ead47f6"/>
    <p:sldId xmlns:r="http://schemas.openxmlformats.org/officeDocument/2006/relationships" id="263" r:id="R7373d84e57fe46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ffd3f088c4b6f" /><Relationship Type="http://schemas.openxmlformats.org/officeDocument/2006/relationships/slideMaster" Target="/ppt/slideMasters/slideMaster1.xml" Id="Rb72e705a82324ddc" /><Relationship Type="http://schemas.openxmlformats.org/officeDocument/2006/relationships/notesMaster" Target="/ppt/notesMasters/notesMaster1.xml" Id="Rc49bf1b096ac4d0d" /><Relationship Type="http://schemas.openxmlformats.org/officeDocument/2006/relationships/presProps" Target="/ppt/presProps.xml" Id="R8e671da78d8f4391" /><Relationship Type="http://schemas.openxmlformats.org/officeDocument/2006/relationships/tableStyles" Target="/ppt/tableStyles.xml" Id="R959af870aa8545f6" /><Relationship Type="http://schemas.openxmlformats.org/officeDocument/2006/relationships/slide" Target="/ppt/slides/slide1.xml" Id="Rc499d37c33104759" /><Relationship Type="http://schemas.openxmlformats.org/officeDocument/2006/relationships/slide" Target="/ppt/slides/slide2.xml" Id="Rf227278729d94a0e" /><Relationship Type="http://schemas.openxmlformats.org/officeDocument/2006/relationships/slide" Target="/ppt/slides/slide3.xml" Id="Rf3225e6cf9604208" /><Relationship Type="http://schemas.openxmlformats.org/officeDocument/2006/relationships/slide" Target="/ppt/slides/slide4.xml" Id="R48a0185a00084879" /><Relationship Type="http://schemas.openxmlformats.org/officeDocument/2006/relationships/slide" Target="/ppt/slides/slide5.xml" Id="R2bea9b75fe6a49d3" /><Relationship Type="http://schemas.openxmlformats.org/officeDocument/2006/relationships/slide" Target="/ppt/slides/slide6.xml" Id="Rfd98efcbd76b4545" /><Relationship Type="http://schemas.openxmlformats.org/officeDocument/2006/relationships/slide" Target="/ppt/slides/slide7.xml" Id="R7977db0a6ead47f6" /><Relationship Type="http://schemas.openxmlformats.org/officeDocument/2006/relationships/slide" Target="/ppt/slides/slide8.xml" Id="R7373d84e57fe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6b8f843ae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9f6359ff747d8" /><Relationship Type="http://schemas.openxmlformats.org/officeDocument/2006/relationships/notesMaster" Target="/ppt/notesMasters/notesMaster1.xml" Id="Re7d3caa4b53e4a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f4786fc764b92" /><Relationship Type="http://schemas.openxmlformats.org/officeDocument/2006/relationships/notesMaster" Target="/ppt/notesMasters/notesMaster1.xml" Id="Rc19a3538c519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47ca92d3b849c0" /><Relationship Type="http://schemas.openxmlformats.org/officeDocument/2006/relationships/notesMaster" Target="/ppt/notesMasters/notesMaster1.xml" Id="R9cd96bda142e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126fc41bb64fa8" /><Relationship Type="http://schemas.openxmlformats.org/officeDocument/2006/relationships/notesMaster" Target="/ppt/notesMasters/notesMaster1.xml" Id="Rcbaa412136a8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b395c27034fc2" /><Relationship Type="http://schemas.openxmlformats.org/officeDocument/2006/relationships/notesMaster" Target="/ppt/notesMasters/notesMaster1.xml" Id="R238653e6868040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b88de65f54e8b" /><Relationship Type="http://schemas.openxmlformats.org/officeDocument/2006/relationships/notesMaster" Target="/ppt/notesMasters/notesMaster1.xml" Id="Rb221f1308e7f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d8ce612bd74c15" /><Relationship Type="http://schemas.openxmlformats.org/officeDocument/2006/relationships/notesMaster" Target="/ppt/notesMasters/notesMaster1.xml" Id="R471a72d5caba40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1efa9a64dd4a86" /><Relationship Type="http://schemas.openxmlformats.org/officeDocument/2006/relationships/notesMaster" Target="/ppt/notesMasters/notesMaster1.xml" Id="R9078a762306c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bb8f1edc0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19feb93b04a21" /><Relationship Type="http://schemas.openxmlformats.org/officeDocument/2006/relationships/slideLayout" Target="/ppt/slideLayouts/slideLayout1.xml" Id="R396d618d501b4f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d618d501b4f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17917b20b4f53" /><Relationship Type="http://schemas.openxmlformats.org/officeDocument/2006/relationships/image" Target="/ppt/media/image.png" Id="R212bb65af8eb48c3" /><Relationship Type="http://schemas.openxmlformats.org/officeDocument/2006/relationships/notesSlide" Target="/ppt/notesSlides/notesSlide1.xml" Id="R9a626920e22e45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7bfa1b46438f" /><Relationship Type="http://schemas.openxmlformats.org/officeDocument/2006/relationships/notesSlide" Target="/ppt/notesSlides/notesSlide2.xml" Id="R7bca974e1277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87f4d93fd44f5" /><Relationship Type="http://schemas.openxmlformats.org/officeDocument/2006/relationships/notesSlide" Target="/ppt/notesSlides/notesSlide3.xml" Id="Ra2cc879ee73e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a533106b4bf2" /><Relationship Type="http://schemas.openxmlformats.org/officeDocument/2006/relationships/notesSlide" Target="/ppt/notesSlides/notesSlide4.xml" Id="R75760a724c75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e58f6471d4b2b" /><Relationship Type="http://schemas.openxmlformats.org/officeDocument/2006/relationships/notesSlide" Target="/ppt/notesSlides/notesSlide5.xml" Id="Rb9c694ee3c78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6a33f576247d2" /><Relationship Type="http://schemas.openxmlformats.org/officeDocument/2006/relationships/notesSlide" Target="/ppt/notesSlides/notesSlide6.xml" Id="R47730fbb338f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e1cfa3f6d49e5" /><Relationship Type="http://schemas.openxmlformats.org/officeDocument/2006/relationships/notesSlide" Target="/ppt/notesSlides/notesSlide7.xml" Id="R3b7ea9c92e0e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8c0b5d1b14c94" /><Relationship Type="http://schemas.openxmlformats.org/officeDocument/2006/relationships/notesSlide" Target="/ppt/notesSlides/notesSlide8.xml" Id="Recfc7ad5893146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5B4AB-9BD3-4858-AAAF-AE7474B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8FBF8-DE85-4223-963C-FD97462A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F8074-06EE-4926-8C92-C0B4450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3F7C8-34EE-4F0A-B3CA-0228299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1EA16-B8F7-493E-ABE7-5164006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E460-2AA1-4A4A-AAED-3C7895F4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C0EB0-8984-4D0A-81C0-6778358E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F9020-0ECC-4300-B7AB-A299F2B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4F6C2-94BC-48F9-9C77-E120D5F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9C625-D00D-4392-8799-A2D5121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658CA-BCE5-4F7C-B25F-9BEAB67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35350-5F9D-49E2-B42F-F5D13AC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B19A7-891E-4838-AC43-22099304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E37D7-4108-4BF4-8A1F-1B93D418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7220C-9C79-4C79-9B5F-C110588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FEB69-949F-4C6E-80ED-C45714C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29750-23FF-4C45-B5B7-346C8DFB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74B8-68A5-40F6-BF53-1165A6C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BDD0A-D52A-4C52-A62F-8A2EB1D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F289F-F3E6-47A0-BAB6-BF397042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399B3-F86B-4989-AA4F-0A9E432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C0059-3A00-4E0C-AEF3-2067631C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9E096-AE0C-4648-A518-FFDED1D4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bb65af8eb48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FEC70-ABFC-481F-A4AD-324638A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>
              <a:alpha val="80000"/>
            </a:srgbClr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1CF48-036A-47B5-B987-3E85A8F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C5FE9-FB09-4200-9A04-3A8298C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79B66-829B-4F2A-B8E7-3056BEA3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BE2D3-7B08-4A0C-8573-BC6F33E1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1BF83-8DC6-4807-B0C9-3C9AC062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3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24E3D-7C72-421E-B07A-AFB73001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117B4-6536-40A2-8052-0D0C2FA3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B1903-7396-4EEF-9EF3-BBA0300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914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11B5D-1E59-4348-8F49-84D8F44B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4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59A89-9CB5-4080-B1AB-045B682D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3DE428-C40F-4D38-92AD-78F29F94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MEMORY PROMPTING FRAMEWORK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55E95-DB52-40B4-95C9-E3B1827A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BFF"/>
                </a:solidFill>
              </a:defRPr>
            </a:pPr>
            <a:r>
              <a:rPr sz="4350" b="1">
                <a:solidFill>
                  <a:srgbClr val="F7FBFF"/>
                </a:solidFill>
              </a:rPr>
              <a:t>Build agents that remember, learn, and evolve.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4C6496-A8C0-4F72-B65C-CC1035CA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3CF"/>
                </a:solidFill>
              </a:defRPr>
            </a:pPr>
            <a:r>
              <a:rPr sz="1725">
                <a:solidFill>
                  <a:srgbClr val="B8C3CF"/>
                </a:solidFill>
              </a:rPr>
              <a:t>MyndMemory gives builders a framework and Studio console for configuring human-like memory on top of HydraDB.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08CB6A-301D-4E47-AE8A-9531D290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F8C9B"/>
                </a:solidFill>
              </a:defRPr>
            </a:pPr>
            <a:r>
              <a:rPr sz="1125">
                <a:solidFill>
                  <a:srgbClr val="7F8C9B"/>
                </a:solidFill>
              </a:rPr>
              <a:t>Pitch deck • 2026</a:t>
            </a:r>
          </a:p>
        </p:txBody>
      </p:sp>
    </p:spTree>
    <p:extLst>
      <p:ext uri="{BB962C8B-B14F-4D97-AF65-F5344CB8AC3E}">
        <p14:creationId xmlns:p14="http://schemas.microsoft.com/office/powerpoint/2010/main" val="1345543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94D56-5F47-485A-B72A-F4DA528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6C6D9-5DE8-4C6B-ACD2-9044571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993C6-A4FE-4318-9486-21E42BE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245A9-5F0A-44FC-A28B-149673C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C500C-9C98-485A-A9CE-0872F84E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2E22A-FFA5-481B-8F58-FA6E670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60111-46DB-4655-8CCB-564C2487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48D69-A668-431F-AF77-37DC7BF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F7EF0-42C1-40E7-A404-8957532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04432-C6B1-4C2C-A256-E8F5619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F9C49-8BF6-4E67-AF85-2697A777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F8631-4848-4A23-89C9-C363379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E2EED-DDC6-48C9-93A3-0DB70D4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8B313-8B7B-4EE4-9526-571D91B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E7B1C-691A-461E-A709-7FE951C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F1EAF-7D69-40C7-8B7F-C9170EAD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0CC70-3D08-47C6-B2E7-ECEB043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254E8-EFD0-4F05-9504-591878F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E0149-8556-41B3-A459-7ABB0EE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6F165-D93C-4866-B37B-B9A0C3EA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75F1C-D8A4-4CF8-B463-BB62418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CB879-1B16-43BB-A96D-CAB306A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7CE31-AB57-4F53-94A5-01B05AA7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1A910-4FBB-4EB9-878A-D6AE5322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8F306-C00C-4278-804D-84DECF2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9F6FF-5880-4A2C-AE38-0F5856F1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CF822-9775-4D0B-85F9-0A08F7A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D30D7-63C4-4580-8857-272C124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0DB0C-D321-4772-AAEB-2C30B06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E90D7-438F-4D17-824B-F44CEB90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636BBF-6B27-4029-BDA3-9F675CB0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4318DE-1798-4419-96CC-DA92494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BEB349-0666-4A45-8D02-420C8C9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21040-CF0D-4716-8A55-E554619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THE PROBLEM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5670AB-6560-4D1E-9390-AE78BBA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AI apps forget too much context.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36888D-37F4-4942-88C2-22E09269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Agents can chat, but most products still treat memory as logs, prompts, or fragile retrieval glue.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97CC05-D024-4CF0-B8AC-8858D3F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F6CFA7-5127-49AE-9329-A225256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907BFF-DDB4-495F-A337-C7F17AA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0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D5C0BE-17BD-4265-AC5C-B6BEA2FA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Context is scattered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DA38B5-8168-4AFA-AFE4-A33D86C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Important user state lives across events, documents, conversations, and app data.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B37A44-2265-4916-9332-6C6D7BD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43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E34A4-776A-45DE-BCB1-69874A9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Retrieval is not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D1348-718C-42CC-BB96-E696918C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Search can return facts, but it does not decide what should be learned, updated, or forgotten.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AA8C7D-0CFA-4ACA-9737-340B014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55B1F7-64A4-40F6-92AA-AEF2C9A3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Builders lack a control plane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D7E9F8-1FC0-42B1-B2A6-4FF4DAB6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Teams need a way to inspect and tune how agents remember across real workflows.</a:t>
            </a:r>
          </a:p>
        </p:txBody>
      </p:sp>
    </p:spTree>
    <p:extLst>
      <p:ext uri="{BB962C8B-B14F-4D97-AF65-F5344CB8AC3E}">
        <p14:creationId xmlns:p14="http://schemas.microsoft.com/office/powerpoint/2010/main" val="1027460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517A2-61A5-476A-ACAE-96D15CDF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E41C0-0BE1-49D3-B0D5-C7AA17EA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41C53-9B73-4584-A674-F0F7BF2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B5DA7-74DF-4560-B854-5A19E730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C920D-B6B3-40A7-9352-C567AA5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53D12-20FD-4BF6-BB27-F612BC0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A6919-7A8C-4E51-8D64-DA2F423F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B7035-D3EB-4AA2-B428-3CC3C888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D88BC-DA3F-45B2-B91A-5340282F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75EC9-48A2-4110-A2DB-E712AA5B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9DE1B-13C9-436A-8205-8B79198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DE187-462B-4249-90E6-DC25293C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D0186-D37C-4F36-BF5B-5E21EC96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2A045-D269-48D4-8AA4-5A1C2FC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32AC8-E6E7-4E6E-A849-545DC61B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D6EE4-DCF2-4A23-8E42-552810F2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A4DB6-49F8-46B1-95CE-4FAABD6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3BDDA-DD40-475C-8DDE-3B9DBB03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9AC41-CAE6-42E1-9F08-724F584E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F1526-61A7-4A4F-A630-4F104EC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4BFEE-966D-46B6-9145-657A750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8BFAE-8117-44CE-A58B-7A998794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885D3-27BF-4235-808C-67A08C8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CBA61-94CA-43AB-B17E-8C677DC0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62AD1-BD1D-43E5-BC29-072EEEE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54F09-052A-4487-8987-58B67318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1DBCA-34B8-49F0-9060-7FEE42E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A8AFB-3447-4D61-A446-F55AC339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44389-9B97-4519-8495-AAAE4AF7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9AE41B-093C-4AEB-A287-6BC74FB5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472CEA-5B63-4B7C-8112-27F94E06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D77D6-8924-4755-8C5C-9D099A15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256D8-1878-4057-8EEA-8AF2E9F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DE380-1106-4ACA-B918-807B57F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THE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CB4079-4302-4FDE-9F55-D499C221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The framework layer for adaptive agent memory.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A1BCF-4A5A-4757-9BC2-88C5D8C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It turns app events into scored, durable, inspectable memory prompts that agents can use in future reasoning.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21FB17-C101-49DB-9009-1A1D5D6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A63F38-54A3-4A85-AB0A-0A40D44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A3CCC4-7032-470D-9ECE-E6C7651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1">
              <a:alpha val="66667"/>
            </a:srgbClr>
          </a:solidFill>
          <a:ln xmlns:a="http://schemas.openxmlformats.org/drawingml/2006/main" w="14288">
            <a:solidFill>
              <a:srgbClr val="51647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64555-3A80-4E6E-A52C-D6FD652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1">
              <a:alpha val="66667"/>
            </a:srgbClr>
          </a:solidFill>
          <a:ln xmlns:a="http://schemas.openxmlformats.org/drawingml/2006/main" w="19050">
            <a:solidFill>
              <a:srgbClr val="56D5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E0447B-B31B-44BE-A32E-3E4BD259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1">
              <a:alpha val="66667"/>
            </a:srgbClr>
          </a:solidFill>
          <a:ln xmlns:a="http://schemas.openxmlformats.org/drawingml/2006/main" w="14288">
            <a:solidFill>
              <a:srgbClr val="51647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0A9570-700F-4D44-884E-D2B2836E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</a:defRPr>
            </a:pPr>
            <a:r>
              <a:rPr sz="1875" b="1">
                <a:solidFill>
                  <a:srgbClr val="F7FBFF"/>
                </a:solidFill>
              </a:rPr>
              <a:t>Application events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E27899-CC4A-42F4-8906-37800A1C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6D5B7"/>
                </a:solidFill>
              </a:defRPr>
            </a:pPr>
            <a:r>
              <a:rPr sz="1875" b="1">
                <a:solidFill>
                  <a:srgbClr val="56D5B7"/>
                </a:solidFill>
              </a:rPr>
              <a:t>MyndMemory runtime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49FBE3-30CA-4E03-B4E4-716F6C3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</a:defRPr>
            </a:pPr>
            <a:r>
              <a:rPr sz="1875" b="1">
                <a:solidFill>
                  <a:srgbClr val="F7FBFF"/>
                </a:solidFill>
              </a:rPr>
              <a:t>Agent response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042010-705C-46B5-B82E-AE00D263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3CF"/>
                </a:solidFill>
              </a:defRPr>
            </a:pPr>
            <a:r>
              <a:rPr sz="1650">
                <a:solidFill>
                  <a:srgbClr val="B8C3CF"/>
                </a:solidFill>
              </a:rPr>
              <a:t>Capture → score → persist → retrieve → assemble context</a:t>
            </a:r>
          </a:p>
        </p:txBody>
      </p:sp>
    </p:spTree>
    <p:extLst>
      <p:ext uri="{BB962C8B-B14F-4D97-AF65-F5344CB8AC3E}">
        <p14:creationId xmlns:p14="http://schemas.microsoft.com/office/powerpoint/2010/main" val="2079427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5B134-AC62-4CD0-9EAB-FB25FA6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D7246-37C3-415F-A5A1-66A76CD4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AF5D4-5F87-4DFB-BA45-EC5F4E76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FFE35-1522-4F76-A911-ED0C213F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39B1A-3471-482E-BD6C-E913059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B77F8-3596-4C86-A772-C031693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37A7C-2FE4-42C4-AB28-956DED8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14B97-9A46-4CFA-BF29-EC693CEA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1E6C-C80A-46D5-A57A-6857138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9BEE4-D416-4812-8767-6330CD75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A1C71-7B41-4899-A818-21FC27F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C149D-EAB6-409F-9679-DD377FB5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FF107-BBF8-4F89-AC24-D80E5860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CC238-37B1-45B5-A67C-213E3D2E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CD405-5041-4EDA-8371-4040352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F9E9D-B40C-4A7C-8CBE-6B4E90A1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ABEC7-5531-4D38-8D7D-AFEF5F5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466D0-31BC-4798-B760-34E44E08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94B46-BE96-44D2-84B2-0C5068AE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6485A-DBDF-4F8D-9847-F553D595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86A58-A92D-4D08-9128-81A167F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AC503-E243-4968-BA4F-AED130F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74C6F-B31D-4F94-AE13-C3F82E81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75428-E822-4D3A-8A1D-F8691AED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A1AC8-AEF2-42B9-AFF6-AAA2230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9E41A-3C19-40B0-BF19-0035C2A5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FDBFB-33C8-4655-8F98-DA0FB7A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C5BC5-32DC-4F90-B533-47516E9E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AB32C-C706-42EF-8EB7-32962F3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B2868-B339-4F97-AC5E-0E4BC5C0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A0EDC-0D5C-43DC-9AFF-0D6FADA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AD8F6-83C6-4A15-AEC3-3E2BEB57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4956E-BDB6-4CC3-9AB3-EDC7EE3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9EAAE-1A4F-430F-BD32-93505AF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ARCHITECTURE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E7362D-56E1-4FCE-BF87-41E9C78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HydraDB is the substrate. MyndMemory is the behavior.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0DECF-7908-4857-9FF1-77727AE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The system separates durable storage from memory policy, lifecycle, scoring, and human-readable inspection.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D4159-B194-43DB-BC7A-3FF14688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A6EFD-2528-4A18-8507-65C7384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7EEA26-F67F-4B9A-AB5D-3605ACA1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619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D">
              <a:alpha val="66667"/>
            </a:srgbClr>
          </a:solidFill>
          <a:ln xmlns:a="http://schemas.openxmlformats.org/drawingml/2006/main" w="19050">
            <a:solidFill>
              <a:srgbClr val="56D5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E6A4A-C329-4FD3-B0B7-EFF5351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6D5B7"/>
                </a:solidFill>
              </a:defRPr>
            </a:pPr>
            <a:r>
              <a:rPr sz="1425" b="1">
                <a:solidFill>
                  <a:srgbClr val="56D5B7"/>
                </a:solidFill>
              </a:rPr>
              <a:t>Framework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964AA7-5A6C-4C0D-B5D9-D0590DF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352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3CF"/>
                </a:solidFill>
              </a:defRPr>
            </a:pPr>
            <a:r>
              <a:rPr sz="1050">
                <a:solidFill>
                  <a:srgbClr val="B8C3CF"/>
                </a:solidFill>
              </a:rPr>
              <a:t>Runtime policies, memory lifecycle, context assembly, and Studio controls.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479707-A2B4-4537-8DE1-CB27DAE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1619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1">
              <a:alpha val="66667"/>
            </a:srgbClr>
          </a:solidFill>
          <a:ln xmlns:a="http://schemas.openxmlformats.org/drawingml/2006/main" w="11430">
            <a:solidFill>
              <a:srgbClr val="51647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287078-AF93-4BEA-BD2B-D750B674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BFF"/>
                </a:solidFill>
              </a:defRPr>
            </a:pPr>
            <a:r>
              <a:rPr sz="1425" b="1">
                <a:solidFill>
                  <a:srgbClr val="F7FBFF"/>
                </a:solidFill>
              </a:rPr>
              <a:t>HydraDB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8AD004-5436-477A-A8CD-0FBFA9BF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1352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3CF"/>
                </a:solidFill>
              </a:defRPr>
            </a:pPr>
            <a:r>
              <a:rPr sz="1050">
                <a:solidFill>
                  <a:srgbClr val="B8C3CF"/>
                </a:solidFill>
              </a:rPr>
              <a:t>Durable persistence, hybrid retrieval, metadata, and memory state history.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FA7F7-E47B-49BC-8FC0-56E7527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1619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1">
              <a:alpha val="66667"/>
            </a:srgbClr>
          </a:solidFill>
          <a:ln xmlns:a="http://schemas.openxmlformats.org/drawingml/2006/main" w="11430">
            <a:solidFill>
              <a:srgbClr val="51647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AB3456-ABCD-4714-826D-FF5C01A0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BFF"/>
                </a:solidFill>
              </a:defRPr>
            </a:pPr>
            <a:r>
              <a:rPr sz="1425" b="1">
                <a:solidFill>
                  <a:srgbClr val="F7FBFF"/>
                </a:solidFill>
              </a:rPr>
              <a:t>Nebius Token Factory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32489B-0308-4947-A727-2FFC4318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19400"/>
            <a:ext cx="1352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3CF"/>
                </a:solidFill>
              </a:defRPr>
            </a:pPr>
            <a:r>
              <a:rPr sz="1050">
                <a:solidFill>
                  <a:srgbClr val="B8C3CF"/>
                </a:solidFill>
              </a:rPr>
              <a:t>Inference, semantic scoring, summarization, and recall assistance.</a:t>
            </a:r>
          </a:p>
        </p:txBody>
      </p:sp>
    </p:spTree>
    <p:extLst>
      <p:ext uri="{BB962C8B-B14F-4D97-AF65-F5344CB8AC3E}">
        <p14:creationId xmlns:p14="http://schemas.microsoft.com/office/powerpoint/2010/main" val="1210134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652E6A-F73B-4631-B468-1E8E3AF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61B11-4157-45BF-BEC8-373E573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FAD3D-E578-4652-976D-7F96677E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B7104-2C64-4B6F-A8EC-070E40A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8978E-C234-40E5-A38E-17EDBC11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AF71B-7FF6-474D-A9CD-8ADA89A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DAF8B-97A4-4821-B4F7-3B8A931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1B4C8-848C-41FF-8368-63B9D4B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DFF8D-97CD-449C-98AE-4C25210E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D46A5-7837-47F7-A9AE-C87D518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3FF7-67C9-4AEB-ABB2-9BB1DCD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9F4F5-080B-4D27-B710-827C5F84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E0B0F-B930-4574-8886-21752837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EE0A9-5F75-4B21-ADDF-3C9A4CE7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10AC6-A7B7-47B8-8B1D-6435A47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BCC2D-870E-410E-9192-726AB0E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497D3-CC08-444A-9CAB-FAA8EE9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48252-BA71-4F07-B564-45FA8DF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0EDA2-ADD6-418C-928E-EDFC9B0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62B90-82A5-44AE-8C8B-A9A5E286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59199-F600-4C41-88B8-55BF38C2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733C2-080F-4612-A680-DD4D277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26803-D519-4249-BF27-F7D68D59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0A6B7-D644-43C2-BE44-78D9BE53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78328-050E-48EC-91B1-907569A0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79DEC-483B-4CA8-A9BB-F764D56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0BE5B-D95F-46B9-B948-04B2BCEC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2ABB9-AA41-463D-855A-9507812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E981D-E07A-4890-AB4A-0D773A9C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931B5-2C51-49FE-B0D2-1F6E10C9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955CBF-BD26-4B4F-B364-0D0B068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383D1-4E6F-4E51-B4C7-D4D4BE24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6ED2B-8EA9-4CB6-B5C2-C3C2A71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45E252-76E4-4835-99F9-62AA4F6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MEMORY STUDIO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EDC08-AA8A-4982-81BB-0C5BA63A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A dedicated console for configuring agent memory.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0F7F9F-1D42-4863-A086-D8B7C8A0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Studio gives builders a visible interface for inspecting memory states, tuning policies, and reviewing why context was recalled.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FBC83-C94F-4108-BD0A-94521AD7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31E351-A141-43BD-985F-9DE6C7D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9F4EDD-E9D7-4993-8441-6A9BD23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A">
              <a:alpha val="66667"/>
            </a:srgbClr>
          </a:solidFill>
          <a:ln xmlns:a="http://schemas.openxmlformats.org/drawingml/2006/main" w="12383">
            <a:solidFill>
              <a:srgbClr val="51647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0D6730-8660-459D-A0C7-A5D1211C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2C40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9219A2-4972-4B2C-8FA5-431B5C6A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1"/>
          </a:solidFill>
          <a:ln xmlns:a="http://schemas.openxmlformats.org/drawingml/2006/main" w="14288">
            <a:solidFill>
              <a:srgbClr val="56D5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8F6E78-8C33-4DAC-88AF-6952C561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51647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11A766-63E5-4A76-B6F6-ABFBECED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8"/>
          </a:solidFill>
          <a:ln xmlns:a="http://schemas.openxmlformats.org/drawingml/2006/main" w="9525">
            <a:solidFill>
              <a:srgbClr val="51647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E69795-A961-4BFC-9AF4-9D4EA34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Agent 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37BBE1-D5CA-4D3B-89EC-10ADEC5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D5B7"/>
                </a:solidFill>
              </a:defRPr>
            </a:pPr>
            <a:r>
              <a:rPr sz="1350" b="1">
                <a:solidFill>
                  <a:srgbClr val="56D5B7"/>
                </a:solidFill>
              </a:rPr>
              <a:t>Memory states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6BC16-557D-4B3F-B75B-F56C8A4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Policy tuning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60A6BE-9699-45E0-9496-10F484B9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Recall trace</a:t>
            </a:r>
          </a:p>
        </p:txBody>
      </p:sp>
    </p:spTree>
    <p:extLst>
      <p:ext uri="{BB962C8B-B14F-4D97-AF65-F5344CB8AC3E}">
        <p14:creationId xmlns:p14="http://schemas.microsoft.com/office/powerpoint/2010/main" val="1874857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A2D10-984C-450A-97C6-1FD2AF1C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8F0BD-1E42-48CD-9946-27C7266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5D1C4-741E-443D-862D-33B57D7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6F442-1C5B-454F-BDD3-77CA1FFC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A54B7-76FD-44A1-BE97-63B66AA3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C1856-75D0-4B2E-BEB4-4C5A4B7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BC7A0-23DE-4C0D-B10B-40919C9F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F61F3-15D0-40BB-86AE-BC064BE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B1729-25F6-4ABF-A890-10B2B1E6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1F037-CD03-4ADE-B5E5-D1C9F7B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84332-D095-44E4-B637-C0ED19A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0C156-05F9-4BA3-91DD-5D8FC911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22D5C-8C30-4383-AB89-7AEDEE1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A1440-4B64-4AFB-BEDE-3B70424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065E7-4442-4B14-B056-38C299D2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C6C23-0F52-47EA-8A21-C9C50D8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0FB28-F587-4614-A44B-A9B74FBA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7A04B-831D-4766-96EB-89A5868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5EFB8-9A24-4C7F-A239-E759F2E2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45E78-403B-44A8-92F5-72B9FF1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8F95E-38A3-4B26-987C-A76FD547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B5B53-2D3B-4826-AD46-DADF011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7141C-EB00-4B96-BDD6-73AF1FF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42813-924F-49E8-9DED-62A8208A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9AC5D-3F59-442B-82CF-3EB81C0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56890-CF5A-4BE2-9B58-9D9B50F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01930-6C8D-43B3-A1B6-719D697C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20B0A-57B8-4659-8202-BD6C65C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2368D-C64E-4DB1-9C60-2EB0F12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A9DB97-22B6-4627-9505-361A234C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53D5E-FAEB-4E46-9F29-D0AE759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BF4A9-B6B6-4BD0-8DF6-60317F61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21B05-EECA-46CD-8134-CE505E1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D38657-1B66-48C2-AF0B-362CF2CB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USE CASES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9B71F-B17C-4541-AE63-FB6FE997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For teams building agents into real workflows.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B71F3-8E89-47A3-A9BB-743D7F0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MyndMemory fits wherever an AI system needs persistent context, evolving preferences, and transparent recall.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01A8B4-DAA0-465A-825D-16FB3DCF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A7BBC-F973-47AC-B461-C3777D24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EBB1FF-1FD8-4499-91C1-7C7E41A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F31945-50B7-41FA-8D36-8F9F93E6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Personal copilots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21141-4B5F-49BF-8731-58FE6FD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Remember goals, preferences, active projects, and past decisions.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C5D711-1697-4431-9A79-C3BB35B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0B0923-4D97-4917-8D16-D5C2584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33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Support and success agents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F0CDEC-76C9-4A8E-AA05-94F2D25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Carry account context across tickets, calls, and product events.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8FF88-E4F5-45CC-8F11-5EF40067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20BCF7-5E8A-4A0C-B387-C37C42F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Developer agents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87EF18-678B-4E0B-9F03-C80E5A5F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0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Retain project architecture, repo decisions, bugs, and review history.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32C698-094C-4A1B-8753-48EE258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8AAE20-3895-4E72-BC06-14958B3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Ops agents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865C43-CFBE-4FF4-BBE4-1588217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Track incidents, playbooks, ownership, and repeated operational patterns.</a:t>
            </a:r>
          </a:p>
        </p:txBody>
      </p:sp>
    </p:spTree>
    <p:extLst>
      <p:ext uri="{BB962C8B-B14F-4D97-AF65-F5344CB8AC3E}">
        <p14:creationId xmlns:p14="http://schemas.microsoft.com/office/powerpoint/2010/main" val="1457330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9AADBB-91EE-4F4E-AA85-3EB8DECE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D5FAA-5597-4F20-90B9-D53CB611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2BE9E-4290-4488-9958-9F701BE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8C9A1-48ED-422A-A15D-FD582BF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C83A-7674-4A40-B52D-456FC545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DCDF9-44CC-4B11-BD46-1DCFB7A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246C1-4FF8-496D-A162-8AA3D0E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FABF1-C5F5-4898-B990-F7D5F862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6EAD7-0A11-4BB0-A87A-39CD668B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B3117-6115-44C2-BE51-D96675D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7C608-B2C6-48FD-AC96-AFCF600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4E7C6-BB4F-46C6-8208-7BAC899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CDA96-382D-4D5F-9DE3-9F2C818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07142-A82E-45DF-A125-CDA2D02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60EB3-76C1-4AE7-B045-73F1A5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8168A-19E0-4BC4-A49D-B23CC47F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6486A-AEAE-4A80-A182-3FFBDF6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67374-17B9-44BE-984A-A0BB693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19F78-17C6-41D3-ABC6-BCD947C8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AB6C5-2799-4570-AC3D-AEBD72B7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3FF5B-7B23-4124-A00A-055D4DA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F8BE3-993F-411C-AE0B-85FF0A05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0A681-8F41-4C17-96A1-E98A564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E69F3-4E63-4F4A-90DD-3F93C12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A29D5-995E-4695-887D-3FB58671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9DFE1-E34E-408D-9A46-A6BE8ACC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E6D0F-2F99-4ECE-87DB-7ECE28F2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F10CA-91EC-419C-99A1-3EC0C811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EDF8C-74B3-43CC-A207-83313578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4266B-7701-4691-953C-44F9DC4A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7B3E6-A238-4605-8ABC-2C39C14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728ED-7E5D-4239-9836-3CAD11A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F6A9E-C434-4B21-ACD6-43112FF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7B0649-C146-49FF-897D-E1651AA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WHY NOW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9A13D-F3F4-402E-AEFF-E4022A28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The next agent platform needs memory as a product surface.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13F53-0335-404F-844F-402D52C7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As agents move from chat windows into applications, memory becomes infrastructure, UX, governance, and differentiation.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CD56A-1B04-4455-8678-0FE4972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8C9B"/>
                </a:solidFill>
              </a:defRPr>
            </a:pPr>
            <a:r>
              <a:rPr sz="975">
                <a:solidFill>
                  <a:srgbClr val="7F8C9B"/>
                </a:solidFill>
              </a:rPr>
              <a:t>MyndMemory pitch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459C02-3034-4943-856C-8CC111F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8C9B"/>
                </a:solidFill>
              </a:defRPr>
            </a:pPr>
            <a:r>
              <a:rPr sz="1050" b="1">
                <a:solidFill>
                  <a:srgbClr val="7F8C9B"/>
                </a:solidFill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74E03B-7A9D-4596-B537-7FC9CA6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02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922D9B-7812-4FC7-A7F3-8A9EFA4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Framework, not one-off glue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DB0232-15FE-43E9-9143-C62BDF28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A reusable memory runtime instead of bespoke prompt and retrieval code per app.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5AD00-2AB9-43C3-A5C9-2FBBDE6C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43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BF63BE-DA2D-4778-9EDB-E0242AD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Inspectable by design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703275-6AC9-45F5-8831-EA923F9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Teams can see what the agent learned, why it recalled it, and how policies affected output.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DABD8-AE86-410F-9754-AA1AEDB5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FCE509-A3A1-4AF5-A39B-124D0A1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Built for adaptive behavior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09BA08-281D-4318-98D4-E4C01C03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3CF"/>
                </a:solidFill>
              </a:defRPr>
            </a:pPr>
            <a:r>
              <a:rPr sz="1275">
                <a:solidFill>
                  <a:srgbClr val="B8C3CF"/>
                </a:solidFill>
              </a:rPr>
              <a:t>Memory can be strengthened, decayed, corrected, merged, or scoped across identities.</a:t>
            </a:r>
          </a:p>
        </p:txBody>
      </p:sp>
    </p:spTree>
    <p:extLst>
      <p:ext uri="{BB962C8B-B14F-4D97-AF65-F5344CB8AC3E}">
        <p14:creationId xmlns:p14="http://schemas.microsoft.com/office/powerpoint/2010/main" val="361850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95E4F-AEB0-439A-92F2-EE3F1B7A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D"/>
          </a:solidFill>
          <a:ln xmlns:a="http://schemas.openxmlformats.org/drawingml/2006/main" w="0">
            <a:solidFill>
              <a:srgbClr val="020B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85071-9FF9-4D88-9FE0-D6D85141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93FB-6199-4D1D-84A4-0B1610A1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303DC-1514-4A9B-A5B8-9ACCF50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E2DA9-4ECA-43BC-8253-2261CFB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93B14-ABDA-4FD1-912A-0354A46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99B6F-97F6-4196-932D-5A5735B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9C79A-7D9B-4AD1-9E85-E7D9A0A1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49751-9A11-4095-994B-65B4B10F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ACE23-0B7D-47B0-B4EC-AF788B7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AC27F-72AE-4FB8-A419-DA778915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7AA6A-A489-4405-971A-618E908D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1A5F8-137B-4C4E-B511-DB82A25C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4C9B6-AAA5-4414-A5A1-80B3CAE1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76817-A835-48DD-B047-5EF6FD2E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0BBB3-1846-43BA-A1CA-17798589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A8BAB-D1CB-48E2-B4A0-1F18ACC5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795A6-5ECF-4FE6-B47A-A3CA260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D36D-495B-456C-929F-79738E9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F9C01-976F-45A7-BB36-E60B423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06937-2D57-4F24-B7E8-6B224B6F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FDE18-F509-4D43-8C50-62CD4B2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961B6-200A-41A1-85AC-BFCCA253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8"/>
          </a:solidFill>
          <a:ln xmlns:a="http://schemas.openxmlformats.org/drawingml/2006/main" w="0">
            <a:solidFill>
              <a:srgbClr val="102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5C95F-9B72-4658-9447-B1B972F9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82A9F-49A6-42EF-84A4-1709F99A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5D665-D5B2-4526-842A-F0D9118D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778CC-54E8-4664-8B5C-606A3FD5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4FB79-0865-4405-AED7-89B0E5C2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5F4A7-9A3D-4ACE-A878-D24D1334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D63DCE-D96B-4AF9-A90D-D8E3BB0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4CE0D-6C95-4897-9CA0-C95C876F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FAA5A-3032-471F-A754-521F5972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F7F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26762-FA89-42BE-BD14-4D5F815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86E29-2CB7-45DA-B302-6F5E85F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5B7"/>
                </a:solidFill>
              </a:defRPr>
            </a:pPr>
            <a:r>
              <a:rPr sz="1125" b="1">
                <a:solidFill>
                  <a:srgbClr val="56D5B7"/>
                </a:solidFill>
              </a:rPr>
              <a:t>THE 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FD345-558E-4549-A3E2-D9BB8EF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Help us turn agent memory into an interface builders can trust.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B93A1-6F6B-4FF6-88A5-E441AB8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3CF"/>
                </a:solidFill>
              </a:defRPr>
            </a:pPr>
            <a:r>
              <a:rPr sz="1800">
                <a:solidFill>
                  <a:srgbClr val="B8C3CF"/>
                </a:solidFill>
              </a:rPr>
              <a:t>Next milestones: ship the Studio workflow, harden HydraDB adapters, publish the developer framework, and onboard pilot builders.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E2674-EA70-48EF-99B3-1792860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1647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EBD469-E59E-45F2-9853-F5BB69E4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F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2F9C9B-A329-4D40-B54B-BC48EA5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5B7"/>
          </a:solidFill>
          <a:ln xmlns:a="http://schemas.openxmlformats.org/drawingml/2006/main" w="0">
            <a:solidFill>
              <a:srgbClr val="56D5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D1944-4095-4719-95B5-75994718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MyndMemory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14B2E8-2B37-459F-ACB7-4AB69F8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8C3CF"/>
                </a:solidFill>
              </a:defRPr>
            </a:pPr>
            <a:r>
              <a:rPr sz="1350">
                <a:solidFill>
                  <a:srgbClr val="B8C3CF"/>
                </a:solidFill>
              </a:rPr>
              <a:t>Memory prompting for adaptive agents</a:t>
            </a:r>
          </a:p>
        </p:txBody>
      </p:sp>
    </p:spTree>
    <p:extLst>
      <p:ext uri="{BB962C8B-B14F-4D97-AF65-F5344CB8AC3E}">
        <p14:creationId xmlns:p14="http://schemas.microsoft.com/office/powerpoint/2010/main" val="98562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2026-06-21T22:26:12.0700000Z</dcterms:created>
  <dcterms:modified xsi:type="dcterms:W3CDTF">2026-06-21T22:26:12.0700000Z</dcterms:modified>
</coreProperties>
</file>