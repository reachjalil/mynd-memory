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Memory strength</c:v>
                </c:pt>
              </c:strCache>
            </c:strRef>
          </c:tx>
          <c:spPr>
            <a:solidFill>
              <a:srgbClr val="54D6B3">
                <a:alpha val="38000"/>
              </a:srgbClr>
            </a:solidFill>
            <a:ln w="25400" cap="flat">
              <a:solidFill>
                <a:srgbClr val="54D6B3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4D6B3"/>
              </a:solidFill>
              <a:ln w="9525" cap="flat">
                <a:solidFill>
                  <a:srgbClr val="54D6B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Preferences</c:v>
                  </c:pt>
                  <c:pt idx="1">
                    <c:v>Goals</c:v>
                  </c:pt>
                  <c:pt idx="2">
                    <c:v>Tasks</c:v>
                  </c:pt>
                  <c:pt idx="3">
                    <c:v>Decisions</c:v>
                  </c:pt>
                  <c:pt idx="4">
                    <c:v>Relationships</c:v>
                  </c:pt>
                  <c:pt idx="5">
                    <c:v>Patterns</c:v>
                  </c:pt>
                  <c:pt idx="6">
                    <c:v>Schedule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</c:v>
                </c:pt>
                <c:pt idx="1">
                  <c:v>92</c:v>
                </c:pt>
                <c:pt idx="2">
                  <c:v>78</c:v>
                </c:pt>
                <c:pt idx="3">
                  <c:v>82</c:v>
                </c:pt>
                <c:pt idx="4">
                  <c:v>84</c:v>
                </c:pt>
                <c:pt idx="5">
                  <c:v>91</c:v>
                </c:pt>
                <c:pt idx="6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Lexical (keywords)</c:v>
                </c:pt>
              </c:strCache>
            </c:strRef>
          </c:tx>
          <c:spPr>
            <a:solidFill>
              <a:srgbClr val="8A98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Concise updates</c:v>
                  </c:pt>
                  <c:pt idx="1">
                    <c:v>Q3 roadmap</c:v>
                  </c:pt>
                  <c:pt idx="2">
                    <c:v>Deep-work block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0.55</c:v>
                </c:pt>
                <c:pt idx="2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Nebius (meaning)</c:v>
                </c:pt>
              </c:strCache>
            </c:strRef>
          </c:tx>
          <c:spPr>
            <a:solidFill>
              <a:srgbClr val="54D6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Concise updates</c:v>
                  </c:pt>
                  <c:pt idx="1">
                    <c:v>Q3 roadmap</c:v>
                  </c:pt>
                  <c:pt idx="2">
                    <c:v>Deep-work block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0.88</c:v>
                </c:pt>
                <c:pt idx="1">
                  <c:v>0.83</c:v>
                </c:pt>
                <c:pt idx="2">
                  <c:v>0.74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4D0E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E38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C4D0E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F1E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agents shouldn't have amnesia. MyndMemory is a memory-prompting framework — it makes what an agent remembers a configurable, visible system instead of invisible prompt glue. It's live in production at myndmemory.com, built on two sponsor platforms: HydraDB and Nebius.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failure modes: memory is forgotten (ephemeral context), hand-wired (re-implemented per app in prompts), and invisible (you can't inspect or trust it). That's the gap MyndMemory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that ties it together: prompt engineering was about what you say to a model. Memory prompting is about what an agent remembers — captured, scored, persisted, decayed, consolidated, and recalled as a system you configure, not strings you hand-write.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capture the signal, connect the context, keep it alive. This is the product in one frame — it sits on HydraDB storage and adds the policies, lifecycle, and trace tooling that make memory a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chat turn flows through five stages and is fully traceable in the console. memory-core captures and scores; HydraDB persists and recalls; Nebius re-ranks and grounds; and the UI shows all of it. Eight memory states, ten tunable parameters, five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HydraDB is the sponsor doing real work. We don't just call it — we surface it: hybrid recall, a glass-box inspector with request ids and latency, hard per-agent tenant isolation, and sync events in the timeline. The radar mirrors the live console's own memory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Nebius does two jobs. Embeddings (Qwen3-Embedding-8B) re-rank memories by meaning — semantic beats keyword matching. Inference (Llama-3.3-70B) writes the grounded, cited answer. Both verified live in production. It's OpenAI-compatible via Chat Completions.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demo: five realistic copilots, each with its own seeded memory and tuned brain parameters. Ask the Blank-Slate and the Productivity Copilot the same question and the answers diverge — because one remembers. Then drag a slider and watch the retrieval strategy change before you even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makes it different: it's not a black box. Cognition is visible, behavior is tunable with ten parameters, memory is persistent and grounded across both sponsors, and it's built demo-safe with a local fallback so it never breaks on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slideware — it's deployed and verified in production. Live at myndmemory.com on Cloudflare Workers, 22 passing tests, both sponsors verified working end to end, public repo. Modern stack, fully typed.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thesis: agents shouldn't have amnesia. MyndMemory makes memory a system — watchable, tunable, persistent, queryable — with HydraDB and Nebius both doing real, visible work. Try it live at myndmemory.com.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3716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3" name="Shape 1"/>
          <p:cNvSpPr/>
          <p:nvPr/>
        </p:nvSpPr>
        <p:spPr>
          <a:xfrm>
            <a:off x="8695944" y="13716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4" name="Shape 2"/>
          <p:cNvSpPr/>
          <p:nvPr/>
        </p:nvSpPr>
        <p:spPr>
          <a:xfrm>
            <a:off x="9573768" y="13716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3716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13716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7" name="Shape 5"/>
          <p:cNvSpPr/>
          <p:nvPr/>
        </p:nvSpPr>
        <p:spPr>
          <a:xfrm>
            <a:off x="7818120" y="224942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8" name="Shape 6"/>
          <p:cNvSpPr/>
          <p:nvPr/>
        </p:nvSpPr>
        <p:spPr>
          <a:xfrm>
            <a:off x="8695944" y="224942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9" name="Shape 7"/>
          <p:cNvSpPr/>
          <p:nvPr/>
        </p:nvSpPr>
        <p:spPr>
          <a:xfrm>
            <a:off x="9573768" y="224942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0" name="Shape 8"/>
          <p:cNvSpPr/>
          <p:nvPr/>
        </p:nvSpPr>
        <p:spPr>
          <a:xfrm>
            <a:off x="10451592" y="224942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11329416" y="224942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2" name="Shape 10"/>
          <p:cNvSpPr/>
          <p:nvPr/>
        </p:nvSpPr>
        <p:spPr>
          <a:xfrm>
            <a:off x="7818120" y="312724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3" name="Shape 11"/>
          <p:cNvSpPr/>
          <p:nvPr/>
        </p:nvSpPr>
        <p:spPr>
          <a:xfrm>
            <a:off x="8695944" y="312724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4" name="Shape 12"/>
          <p:cNvSpPr/>
          <p:nvPr/>
        </p:nvSpPr>
        <p:spPr>
          <a:xfrm>
            <a:off x="9573768" y="312724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51592" y="3127248"/>
            <a:ext cx="566928" cy="566928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29416" y="312724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7" name="Shape 15"/>
          <p:cNvSpPr/>
          <p:nvPr/>
        </p:nvSpPr>
        <p:spPr>
          <a:xfrm>
            <a:off x="7818120" y="4005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5944" y="4005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9" name="Shape 17"/>
          <p:cNvSpPr/>
          <p:nvPr/>
        </p:nvSpPr>
        <p:spPr>
          <a:xfrm>
            <a:off x="9573768" y="4005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51592" y="4005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29416" y="4005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6692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" y="56692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950976" y="56692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72237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795528" y="72237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950976" y="722376"/>
            <a:ext cx="109728" cy="109728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877824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" y="877824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950976" y="877824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31" name="Text 29"/>
          <p:cNvSpPr/>
          <p:nvPr/>
        </p:nvSpPr>
        <p:spPr>
          <a:xfrm>
            <a:off x="1207008" y="502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</a:t>
            </a:r>
            <a:pPr indent="0" marL="0">
              <a:buNone/>
            </a:pPr>
            <a:r>
              <a:rPr lang="en-US" sz="1900" b="1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40080" y="1874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MEMORY-PROMPTING FRAMEWORK  ·  HACKATHON 2026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22402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that
</a:t>
            </a:r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remember, learn,
</a:t>
            </a:r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evolve.</a:t>
            </a:r>
            <a:endParaRPr lang="en-US" sz="5000" dirty="0"/>
          </a:p>
        </p:txBody>
      </p:sp>
      <p:sp>
        <p:nvSpPr>
          <p:cNvPr id="34" name="Text 32"/>
          <p:cNvSpPr/>
          <p:nvPr/>
        </p:nvSpPr>
        <p:spPr>
          <a:xfrm>
            <a:off x="640080" y="47091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memory-prompting framework for adaptive AI. Configure how agents capture, score, persist, and recall human-like memory — on HydraDB and Nebius Token Factory.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5989320"/>
            <a:ext cx="7315200" cy="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</a:t>
            </a:r>
            <a:pPr indent="0" marL="0">
              <a:buNone/>
            </a:pPr>
            <a:r>
              <a:rPr lang="en-US" sz="13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myndmemory.com</a:t>
            </a:r>
            <a:pPr indent="0" marL="0">
              <a:buNone/>
            </a:pPr>
            <a:r>
              <a:rPr lang="en-US" sz="135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github.com/reachjalil/mynd-memory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1264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61264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612648"/>
            <a:ext cx="109728" cy="109728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93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</a:t>
            </a:r>
            <a:pPr indent="0" marL="0">
              <a:buNone/>
            </a:pPr>
            <a:r>
              <a:rPr lang="en-US" sz="1900" b="1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6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have amnesia.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zero. Context is crammed into a prompt window, then forgotten. Teams re-implement memory by hand, in prompt glue — brittle, invisible, and impossible to tune or trust.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3922776"/>
            <a:ext cx="237744" cy="237744"/>
          </a:xfrm>
          <a:prstGeom prst="ellipse">
            <a:avLst/>
          </a:prstGeom>
          <a:solidFill>
            <a:srgbClr val="D65E6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8496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0976" y="4480560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dies with the chat window. Yesterday's preference is gone today.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361188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922776"/>
            <a:ext cx="237744" cy="237744"/>
          </a:xfrm>
          <a:prstGeom prst="ellipse">
            <a:avLst/>
          </a:prstGeom>
          <a:solidFill>
            <a:srgbClr val="D79B2F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38496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Hand-wired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81728" y="4480560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gets re-coded into prompts for every app — duplicated, fragile, unmaintainable.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101584" y="361188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94192" y="3922776"/>
            <a:ext cx="237744" cy="237744"/>
          </a:xfrm>
          <a:prstGeom prst="ellipse">
            <a:avLst/>
          </a:prstGeom>
          <a:solidFill>
            <a:srgbClr val="6D5DFC"/>
          </a:solidFill>
          <a:ln/>
        </p:spPr>
      </p:sp>
      <p:sp>
        <p:nvSpPr>
          <p:cNvPr id="25" name="Text 23"/>
          <p:cNvSpPr/>
          <p:nvPr/>
        </p:nvSpPr>
        <p:spPr>
          <a:xfrm>
            <a:off x="8741664" y="38496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12480" y="4480560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what an agent kept, dropped, recalled, or why the answer changed.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shaped what you </a:t>
            </a:r>
            <a:pPr indent="0" marL="0">
              <a:lnSpc>
                <a:spcPct val="105000"/>
              </a:lnSpc>
              <a:buNone/>
            </a:pPr>
            <a:r>
              <a:rPr lang="en-US" sz="3100" b="1" i="1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prompting shapes what an agent </a:t>
            </a:r>
            <a:endParaRPr lang="en-US" sz="3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100" b="1" i="1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</a:t>
            </a:r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8986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352044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instructions, per request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the model forgets after the call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re-sent and re-paid every turn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means rewriting strings by hand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55080" y="26060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020817"/>
          </a:solidFill>
          <a:ln/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20840" y="2935224"/>
            <a:ext cx="182880" cy="182880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9" name="Text 7"/>
          <p:cNvSpPr/>
          <p:nvPr/>
        </p:nvSpPr>
        <p:spPr>
          <a:xfrm>
            <a:off x="7013448" y="2880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prompting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· score · persist · decay · consolidate · recall</a:t>
            </a:r>
            <a:endParaRPr lang="en-US" sz="1550" dirty="0"/>
          </a:p>
          <a:p>
            <a:pPr indent="0" marL="0">
              <a:spcAft>
                <a:spcPts val="1100"/>
              </a:spcAft>
              <a:buNone/>
            </a:pP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memory system, not prompt glue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— context compounds across sessions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tuned with parameters, not rewrites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 for agent memory.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MyndMemory turns HydraDB-backed storage into a configurable memory system: policies for what to remember, lifecycle rules for how memory evolves, and trace tools for understanding the agent's behavior.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3044952"/>
            <a:ext cx="566928" cy="566928"/>
          </a:xfrm>
          <a:prstGeom prst="ellipse">
            <a:avLst/>
          </a:prstGeom>
          <a:solidFill>
            <a:srgbClr val="16A982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3044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9264" y="381304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signal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9264" y="432511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preferences, goals, decisions, emotional signals, and repeated patterns into inspectable memory objects with state, score, and source.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16552" y="269748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3044952"/>
            <a:ext cx="566928" cy="566928"/>
          </a:xfrm>
          <a:prstGeom prst="ellipse">
            <a:avLst/>
          </a:prstGeom>
          <a:solidFill>
            <a:srgbClr val="3C83F6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3044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45736" y="381304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context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45736" y="432511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memories by theme, confidence, recency, and relationship so the agent retrieves the right thread instead of replaying a flat transcript.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93024" y="269748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22208" y="3044952"/>
            <a:ext cx="566928" cy="566928"/>
          </a:xfrm>
          <a:prstGeom prst="ellipse">
            <a:avLst/>
          </a:prstGeom>
          <a:solidFill>
            <a:srgbClr val="6D5DFC"/>
          </a:solidFill>
          <a:ln/>
        </p:spPr>
      </p:sp>
      <p:sp>
        <p:nvSpPr>
          <p:cNvPr id="17" name="Text 15"/>
          <p:cNvSpPr/>
          <p:nvPr/>
        </p:nvSpPr>
        <p:spPr>
          <a:xfrm>
            <a:off x="8522208" y="3044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22208" y="381304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alive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22208" y="432511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memories form, decay, consolidate, persist to HydraDB, and return as grounded context for model-authored answers.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1264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61264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612648"/>
            <a:ext cx="109728" cy="109728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93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</a:t>
            </a:r>
            <a:pPr indent="0" marL="0">
              <a:buNone/>
            </a:pPr>
            <a:r>
              <a:rPr lang="en-US" sz="1900" b="1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turn, fully traceable.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1948221" cy="2103120"/>
          </a:xfrm>
          <a:prstGeom prst="roundRect">
            <a:avLst>
              <a:gd name="adj" fmla="val 4694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108960"/>
            <a:ext cx="310896" cy="310896"/>
          </a:xfrm>
          <a:prstGeom prst="ellipse">
            <a:avLst/>
          </a:prstGeom>
          <a:solidFill>
            <a:srgbClr val="3C83F6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0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3547872"/>
            <a:ext cx="1491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turn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" y="4114800"/>
            <a:ext cx="14910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arrives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24877" y="3886200"/>
            <a:ext cx="219456" cy="0"/>
          </a:xfrm>
          <a:prstGeom prst="line">
            <a:avLst/>
          </a:prstGeom>
          <a:noFill/>
          <a:ln w="25400">
            <a:solidFill>
              <a:srgbClr val="54D6B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80909" y="2834640"/>
            <a:ext cx="1948221" cy="2103120"/>
          </a:xfrm>
          <a:prstGeom prst="roundRect">
            <a:avLst>
              <a:gd name="adj" fmla="val 4694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36941" y="3108960"/>
            <a:ext cx="310896" cy="310896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22" name="Text 20"/>
          <p:cNvSpPr/>
          <p:nvPr/>
        </p:nvSpPr>
        <p:spPr>
          <a:xfrm>
            <a:off x="3136941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0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18653" y="3547872"/>
            <a:ext cx="1491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score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18653" y="4114800"/>
            <a:ext cx="14910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memory-core: importance, confidence, theme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65705" y="3886200"/>
            <a:ext cx="219456" cy="0"/>
          </a:xfrm>
          <a:prstGeom prst="line">
            <a:avLst/>
          </a:prstGeom>
          <a:noFill/>
          <a:ln w="25400">
            <a:solidFill>
              <a:srgbClr val="54D6B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21737" y="2834640"/>
            <a:ext cx="1948221" cy="2103120"/>
          </a:xfrm>
          <a:prstGeom prst="roundRect">
            <a:avLst>
              <a:gd name="adj" fmla="val 4694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77769" y="3108960"/>
            <a:ext cx="310896" cy="310896"/>
          </a:xfrm>
          <a:prstGeom prst="ellipse">
            <a:avLst/>
          </a:prstGeom>
          <a:solidFill>
            <a:srgbClr val="16A982"/>
          </a:solidFill>
          <a:ln/>
        </p:spPr>
      </p:sp>
      <p:sp>
        <p:nvSpPr>
          <p:cNvPr id="28" name="Text 26"/>
          <p:cNvSpPr/>
          <p:nvPr/>
        </p:nvSpPr>
        <p:spPr>
          <a:xfrm>
            <a:off x="5377769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0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59481" y="3547872"/>
            <a:ext cx="1491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&amp; recall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59481" y="4114800"/>
            <a:ext cx="14910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HydraDB v2: hybrid vector retrieval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06534" y="3886200"/>
            <a:ext cx="219456" cy="0"/>
          </a:xfrm>
          <a:prstGeom prst="line">
            <a:avLst/>
          </a:prstGeom>
          <a:noFill/>
          <a:ln w="25400">
            <a:solidFill>
              <a:srgbClr val="54D6B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62566" y="2834640"/>
            <a:ext cx="1948221" cy="2103120"/>
          </a:xfrm>
          <a:prstGeom prst="roundRect">
            <a:avLst>
              <a:gd name="adj" fmla="val 4694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18598" y="3108960"/>
            <a:ext cx="310896" cy="310896"/>
          </a:xfrm>
          <a:prstGeom prst="ellipse">
            <a:avLst/>
          </a:prstGeom>
          <a:solidFill>
            <a:srgbClr val="6D5DFC"/>
          </a:solidFill>
          <a:ln/>
        </p:spPr>
      </p:sp>
      <p:sp>
        <p:nvSpPr>
          <p:cNvPr id="34" name="Text 32"/>
          <p:cNvSpPr/>
          <p:nvPr/>
        </p:nvSpPr>
        <p:spPr>
          <a:xfrm>
            <a:off x="761859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0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00310" y="3547872"/>
            <a:ext cx="1491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&amp; ground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00310" y="4114800"/>
            <a:ext cx="14910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Nebius: embeddings + cited answer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347363" y="3886200"/>
            <a:ext cx="219456" cy="0"/>
          </a:xfrm>
          <a:prstGeom prst="line">
            <a:avLst/>
          </a:prstGeom>
          <a:noFill/>
          <a:ln w="25400">
            <a:solidFill>
              <a:srgbClr val="54D6B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03395" y="2834640"/>
            <a:ext cx="1948221" cy="2103120"/>
          </a:xfrm>
          <a:prstGeom prst="roundRect">
            <a:avLst>
              <a:gd name="adj" fmla="val 4694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859427" y="3108960"/>
            <a:ext cx="310896" cy="310896"/>
          </a:xfrm>
          <a:prstGeom prst="ellipse">
            <a:avLst/>
          </a:prstGeom>
          <a:solidFill>
            <a:srgbClr val="D79B2F"/>
          </a:solidFill>
          <a:ln/>
        </p:spPr>
      </p:sp>
      <p:sp>
        <p:nvSpPr>
          <p:cNvPr id="40" name="Text 38"/>
          <p:cNvSpPr/>
          <p:nvPr/>
        </p:nvSpPr>
        <p:spPr>
          <a:xfrm>
            <a:off x="9859427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0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841139" y="3547872"/>
            <a:ext cx="1491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trace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841139" y="4114800"/>
            <a:ext cx="14910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inspector, event log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buNone/>
            </a:pPr>
            <a:r>
              <a:rPr lang="en-US" sz="14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states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374904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indent="0" marL="0">
              <a:buNone/>
            </a:pPr>
            <a:r>
              <a:rPr lang="en-US" sz="14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parameters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85800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4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personas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· HYDRADB V2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memory doing real work — visibly.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16A982"/>
          </a:solidFill>
          <a:ln/>
        </p:spPr>
      </p:sp>
      <p:sp>
        <p:nvSpPr>
          <p:cNvPr id="5" name="Text 3"/>
          <p:cNvSpPr/>
          <p:nvPr/>
        </p:nvSpPr>
        <p:spPr>
          <a:xfrm>
            <a:off x="1170432" y="1874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recall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70432" y="2240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keyword retrieval, ranked, per profile sub-tenant.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3C83F6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8072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Glass-box inspector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70432" y="31729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shows mode, alpha, graph, latency, and request id.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13048"/>
            <a:ext cx="365760" cy="365760"/>
          </a:xfrm>
          <a:prstGeom prst="ellipse">
            <a:avLst/>
          </a:prstGeom>
          <a:solidFill>
            <a:srgbClr val="6D5DFC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7398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0432" y="41056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memory is scoped to its own sub-tenant — provably separate.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45736"/>
            <a:ext cx="365760" cy="365760"/>
          </a:xfrm>
          <a:prstGeom prst="ellipse">
            <a:avLst/>
          </a:prstGeom>
          <a:solidFill>
            <a:srgbClr val="D79B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46725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sync events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70432" y="50383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stream into the agent's cognition timeline.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49440" y="1783080"/>
            <a:ext cx="4602175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1984248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strength by theme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086600" y="2331720"/>
          <a:ext cx="4327855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1264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61264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612648"/>
            <a:ext cx="109728" cy="109728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93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</a:t>
            </a:r>
            <a:pPr indent="0" marL="0">
              <a:buNone/>
            </a:pPr>
            <a:r>
              <a:rPr lang="en-US" sz="1900" b="1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· NEBIUS TOKEN FACTORY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 understands memory — and speaks from it.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5943600" cy="3383280"/>
          </a:xfrm>
          <a:prstGeom prst="roundRect">
            <a:avLst>
              <a:gd name="adj" fmla="val 2703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2953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 </a:t>
            </a:r>
            <a:pPr indent="0" marL="0">
              <a:buNone/>
            </a:pPr>
            <a:r>
              <a:rPr lang="en-US" sz="1300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Qwen3-Embedding-8B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3741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re-rank: meaning beats keywords.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822960" y="3794760"/>
          <a:ext cx="55778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949440" y="2697480"/>
            <a:ext cx="4602175" cy="3383280"/>
          </a:xfrm>
          <a:prstGeom prst="roundRect">
            <a:avLst>
              <a:gd name="adj" fmla="val 2703"/>
            </a:avLst>
          </a:prstGeom>
          <a:solidFill>
            <a:srgbClr val="0F1E38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52400" dist="50800" dir="5400000">
              <a:srgbClr val="010409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69480" y="2953512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 </a:t>
            </a:r>
            <a:pPr indent="0" marL="0">
              <a:buNone/>
            </a:pPr>
            <a:r>
              <a:rPr lang="en-US" sz="1300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Llama-3.3-70B-Instruct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269480" y="3374136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answers — not canned text.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69480" y="3840480"/>
            <a:ext cx="3962095" cy="1371600"/>
          </a:xfrm>
          <a:prstGeom prst="roundRect">
            <a:avLst>
              <a:gd name="adj" fmla="val 5333"/>
            </a:avLst>
          </a:prstGeom>
          <a:solidFill>
            <a:srgbClr val="06122A"/>
          </a:solidFill>
          <a:ln w="12700">
            <a:solidFill>
              <a:srgbClr val="2739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52360" y="3995928"/>
            <a:ext cx="359633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“Focus on the before/after memory story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i="1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[M1, H2]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...”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69480" y="5394960"/>
            <a:ext cx="3962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· Chat Completions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memory with [M#] / [H#]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copilots. Five memories. One framework.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different memory → different answer. Tune the brain and watch retrieval change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523744"/>
            <a:ext cx="219456" cy="219456"/>
          </a:xfrm>
          <a:prstGeom prst="ellipse">
            <a:avLst/>
          </a:prstGeom>
          <a:solidFill>
            <a:srgbClr val="16A982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4505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Copilot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9264" y="2962656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with a month of preferences, goals, and recurring tasks.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219456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2523744"/>
            <a:ext cx="219456" cy="219456"/>
          </a:xfrm>
          <a:prstGeom prst="ellipse">
            <a:avLst/>
          </a:prstGeom>
          <a:solidFill>
            <a:srgbClr val="3C83F6"/>
          </a:solidFill>
          <a:ln/>
        </p:spPr>
      </p:sp>
      <p:sp>
        <p:nvSpPr>
          <p:cNvPr id="11" name="Text 9"/>
          <p:cNvSpPr/>
          <p:nvPr/>
        </p:nvSpPr>
        <p:spPr>
          <a:xfrm>
            <a:off x="5056632" y="24505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Account Agent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745736" y="2962656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Northwind enterprise deal; biased to the latest signal.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3024" y="219456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2523744"/>
            <a:ext cx="219456" cy="219456"/>
          </a:xfrm>
          <a:prstGeom prst="ellipse">
            <a:avLst/>
          </a:prstGeom>
          <a:solidFill>
            <a:srgbClr val="6D5DFC"/>
          </a:solidFill>
          <a:ln/>
        </p:spPr>
      </p:sp>
      <p:sp>
        <p:nvSpPr>
          <p:cNvPr id="15" name="Text 13"/>
          <p:cNvSpPr/>
          <p:nvPr/>
        </p:nvSpPr>
        <p:spPr>
          <a:xfrm>
            <a:off x="8833104" y="24505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Copilot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522208" y="2962656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conventions and architecture into durable knowledge.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28316" y="4233672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39212" y="4562856"/>
            <a:ext cx="219456" cy="219456"/>
          </a:xfrm>
          <a:prstGeom prst="ellipse">
            <a:avLst/>
          </a:prstGeom>
          <a:solidFill>
            <a:srgbClr val="D79B2F"/>
          </a:solidFill>
          <a:ln/>
        </p:spPr>
      </p:sp>
      <p:sp>
        <p:nvSpPr>
          <p:cNvPr id="19" name="Text 17"/>
          <p:cNvSpPr/>
          <p:nvPr/>
        </p:nvSpPr>
        <p:spPr>
          <a:xfrm>
            <a:off x="3168396" y="448970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857500" y="5001768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Acme's SSO issues and frustration salient and empathetic.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4788" y="4233672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5684" y="4562856"/>
            <a:ext cx="219456" cy="219456"/>
          </a:xfrm>
          <a:prstGeom prst="ellipse">
            <a:avLst/>
          </a:prstGeom>
          <a:solidFill>
            <a:srgbClr val="5E6B82"/>
          </a:solidFill>
          <a:ln/>
        </p:spPr>
      </p:sp>
      <p:sp>
        <p:nvSpPr>
          <p:cNvPr id="23" name="Text 21"/>
          <p:cNvSpPr/>
          <p:nvPr/>
        </p:nvSpPr>
        <p:spPr>
          <a:xfrm>
            <a:off x="6944868" y="448970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Blank-Slate Agent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33972" y="5001768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baseline with no history — the before in before/after.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457200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1264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61264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612648"/>
            <a:ext cx="109728" cy="109728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76809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93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</a:t>
            </a:r>
            <a:pPr indent="0" marL="0">
              <a:buNone/>
            </a:pPr>
            <a:r>
              <a:rPr lang="en-US" sz="1900" b="1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you can watch, tune, persist, and trust.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825496"/>
            <a:ext cx="420624" cy="420624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15" name="Text 13"/>
          <p:cNvSpPr/>
          <p:nvPr/>
        </p:nvSpPr>
        <p:spPr>
          <a:xfrm>
            <a:off x="1298448" y="2788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cognition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0" y="2788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D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what the agent noticed, retrieved, ignored, and why the answer changed.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12464"/>
            <a:ext cx="420624" cy="420624"/>
          </a:xfrm>
          <a:prstGeom prst="ellipse">
            <a:avLst/>
          </a:prstGeom>
          <a:solidFill>
            <a:srgbClr val="3C83F6"/>
          </a:solidFill>
          <a:ln/>
        </p:spPr>
      </p:sp>
      <p:sp>
        <p:nvSpPr>
          <p:cNvPr id="18" name="Text 16"/>
          <p:cNvSpPr/>
          <p:nvPr/>
        </p:nvSpPr>
        <p:spPr>
          <a:xfrm>
            <a:off x="1298448" y="36758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behavior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4880" y="367588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D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brain parameters expose recency, decay, importance, consolidation, and mood as product controls.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599432"/>
            <a:ext cx="420624" cy="420624"/>
          </a:xfrm>
          <a:prstGeom prst="ellipse">
            <a:avLst/>
          </a:prstGeom>
          <a:solidFill>
            <a:srgbClr val="6D5DFC"/>
          </a:solidFill>
          <a:ln/>
        </p:spPr>
      </p:sp>
      <p:sp>
        <p:nvSpPr>
          <p:cNvPr id="21" name="Text 19"/>
          <p:cNvSpPr/>
          <p:nvPr/>
        </p:nvSpPr>
        <p:spPr>
          <a:xfrm>
            <a:off x="1298448" y="45628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+ grounded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54880" y="456285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D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HydraDB stores and ranks memory; Nebius re-ranks by meaning and authors cited answers.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420624" cy="420624"/>
          </a:xfrm>
          <a:prstGeom prst="ellipse">
            <a:avLst/>
          </a:prstGeom>
          <a:solidFill>
            <a:srgbClr val="D79B2F"/>
          </a:solidFill>
          <a:ln/>
        </p:spPr>
      </p:sp>
      <p:sp>
        <p:nvSpPr>
          <p:cNvPr id="24" name="Text 22"/>
          <p:cNvSpPr/>
          <p:nvPr/>
        </p:nvSpPr>
        <p:spPr>
          <a:xfrm>
            <a:off x="1298448" y="544982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Demo-safe by design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54880" y="544982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D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local fallback and server-side keys — it never dies on stage.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SHIPPED, NOT SLIDEWARE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today.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276856"/>
            <a:ext cx="182880" cy="182880"/>
          </a:xfrm>
          <a:prstGeom prst="ellipse">
            <a:avLst/>
          </a:prstGeom>
          <a:solidFill>
            <a:srgbClr val="16A982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53288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2688" y="317296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myndmemory.com on Cloudflare Workers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93008" y="19659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03904" y="2276856"/>
            <a:ext cx="182880" cy="182880"/>
          </a:xfrm>
          <a:prstGeom prst="ellipse">
            <a:avLst/>
          </a:prstGeom>
          <a:solidFill>
            <a:srgbClr val="3C83F6"/>
          </a:solidFill>
          <a:ln/>
        </p:spPr>
      </p:sp>
      <p:sp>
        <p:nvSpPr>
          <p:cNvPr id="10" name="Text 8"/>
          <p:cNvSpPr/>
          <p:nvPr/>
        </p:nvSpPr>
        <p:spPr>
          <a:xfrm>
            <a:off x="3785616" y="253288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85616" y="317296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 across 3 packages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56832" y="2276856"/>
            <a:ext cx="182880" cy="182880"/>
          </a:xfrm>
          <a:prstGeom prst="ellipse">
            <a:avLst/>
          </a:prstGeom>
          <a:solidFill>
            <a:srgbClr val="6D5DFC"/>
          </a:solidFill>
          <a:ln/>
        </p:spPr>
      </p:sp>
      <p:sp>
        <p:nvSpPr>
          <p:cNvPr id="14" name="Text 12"/>
          <p:cNvSpPr/>
          <p:nvPr/>
        </p:nvSpPr>
        <p:spPr>
          <a:xfrm>
            <a:off x="6638544" y="253288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 / 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38544" y="317296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· memory states · parameters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98864" y="19659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760" y="2276856"/>
            <a:ext cx="182880" cy="182880"/>
          </a:xfrm>
          <a:prstGeom prst="ellipse">
            <a:avLst/>
          </a:prstGeom>
          <a:solidFill>
            <a:srgbClr val="D79B2F"/>
          </a:solidFill>
          <a:ln/>
        </p:spPr>
      </p:sp>
      <p:sp>
        <p:nvSpPr>
          <p:cNvPr id="18" name="Text 16"/>
          <p:cNvSpPr/>
          <p:nvPr/>
        </p:nvSpPr>
        <p:spPr>
          <a:xfrm>
            <a:off x="9491472" y="253288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491472" y="317296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platforms doing real work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911535" cy="1417320"/>
          </a:xfrm>
          <a:prstGeom prst="roundRect">
            <a:avLst>
              <a:gd name="adj" fmla="val 6452"/>
            </a:avLst>
          </a:prstGeom>
          <a:solidFill>
            <a:srgbClr val="020817"/>
          </a:solidFill>
          <a:ln/>
          <a:effectLst>
            <a:outerShdw sx="100000" sy="100000" kx="0" ky="0" algn="bl" rotWithShape="0" blurRad="114300" dist="38100" dir="5400000">
              <a:srgbClr val="8A98B5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4D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464515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6  ·  React 19  ·  TypeScript  ·  Tailwind  ·  Cloudflare Workers  ·  HydraDB v2  ·  Nebius Token Factory  ·  AI SDK  ·  Vitest  ·  Biome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repo: github.com/reachjalil/mynd-memory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9728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3" name="Shape 1"/>
          <p:cNvSpPr/>
          <p:nvPr/>
        </p:nvSpPr>
        <p:spPr>
          <a:xfrm>
            <a:off x="8814816" y="109728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109728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5" name="Shape 3"/>
          <p:cNvSpPr/>
          <p:nvPr/>
        </p:nvSpPr>
        <p:spPr>
          <a:xfrm>
            <a:off x="10533888" y="109728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1956816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7" name="Shape 5"/>
          <p:cNvSpPr/>
          <p:nvPr/>
        </p:nvSpPr>
        <p:spPr>
          <a:xfrm>
            <a:off x="8814816" y="1956816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8" name="Shape 6"/>
          <p:cNvSpPr/>
          <p:nvPr/>
        </p:nvSpPr>
        <p:spPr>
          <a:xfrm>
            <a:off x="9674352" y="1956816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9" name="Shape 7"/>
          <p:cNvSpPr/>
          <p:nvPr/>
        </p:nvSpPr>
        <p:spPr>
          <a:xfrm>
            <a:off x="10533888" y="1956816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2816352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8814816" y="2816352"/>
            <a:ext cx="548640" cy="548640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12" name="Shape 10"/>
          <p:cNvSpPr/>
          <p:nvPr/>
        </p:nvSpPr>
        <p:spPr>
          <a:xfrm>
            <a:off x="9674352" y="2816352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33888" y="2816352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6758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5" name="Shape 13"/>
          <p:cNvSpPr/>
          <p:nvPr/>
        </p:nvSpPr>
        <p:spPr>
          <a:xfrm>
            <a:off x="8814816" y="36758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74352" y="36758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33888" y="36758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233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6692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56692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0" name="Shape 18"/>
          <p:cNvSpPr/>
          <p:nvPr/>
        </p:nvSpPr>
        <p:spPr>
          <a:xfrm>
            <a:off x="950976" y="566928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72237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" y="722376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3" name="Shape 21"/>
          <p:cNvSpPr/>
          <p:nvPr/>
        </p:nvSpPr>
        <p:spPr>
          <a:xfrm>
            <a:off x="950976" y="722376"/>
            <a:ext cx="109728" cy="109728"/>
          </a:xfrm>
          <a:prstGeom prst="ellipse">
            <a:avLst/>
          </a:prstGeom>
          <a:solidFill>
            <a:srgbClr val="54D6B3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877824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" y="877824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6" name="Shape 24"/>
          <p:cNvSpPr/>
          <p:nvPr/>
        </p:nvSpPr>
        <p:spPr>
          <a:xfrm>
            <a:off x="950976" y="877824"/>
            <a:ext cx="109728" cy="109728"/>
          </a:xfrm>
          <a:prstGeom prst="roundRect">
            <a:avLst>
              <a:gd name="adj" fmla="val 16000"/>
            </a:avLst>
          </a:prstGeom>
          <a:solidFill>
            <a:srgbClr val="B9C6DE"/>
          </a:solidFill>
          <a:ln/>
        </p:spPr>
      </p:sp>
      <p:sp>
        <p:nvSpPr>
          <p:cNvPr id="27" name="Text 25"/>
          <p:cNvSpPr/>
          <p:nvPr/>
        </p:nvSpPr>
        <p:spPr>
          <a:xfrm>
            <a:off x="1207008" y="502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</a:t>
            </a:r>
            <a:pPr indent="0" marL="0">
              <a:buNone/>
            </a:pPr>
            <a:r>
              <a:rPr lang="en-US" sz="1900" b="1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40080" y="21488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shouldn't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amnesia.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MyndMemory makes memory a system you can watch, tune, persist, and query — with HydraDB storing and ranking it and Nebius speaking from it.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640080" y="5440680"/>
            <a:ext cx="3108960" cy="603504"/>
          </a:xfrm>
          <a:prstGeom prst="roundRect">
            <a:avLst>
              <a:gd name="adj" fmla="val 50000"/>
            </a:avLst>
          </a:prstGeom>
          <a:solidFill>
            <a:srgbClr val="54D6B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4406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0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console  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23360" y="544068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myndmemory.com</a:t>
            </a:r>
            <a:pPr indent="0" marL="0">
              <a:buNone/>
            </a:pPr>
            <a:r>
              <a:rPr lang="en-US" sz="1400" dirty="0">
                <a:solidFill>
                  <a:srgbClr val="C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github.com/reachjalil/mynd-memory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MyndMemory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MyndMemory — Hackathon Pitch</dc:title>
  <dc:subject>PptxGenJS Presentation</dc:subject>
  <dc:creator>MyndMemory</dc:creator>
  <cp:lastModifiedBy>MyndMemory</cp:lastModifiedBy>
  <cp:revision>1</cp:revision>
  <dcterms:created xsi:type="dcterms:W3CDTF">2026-06-21T22:22:22Z</dcterms:created>
  <dcterms:modified xsi:type="dcterms:W3CDTF">2026-06-21T22:22:22Z</dcterms:modified>
</cp:coreProperties>
</file>